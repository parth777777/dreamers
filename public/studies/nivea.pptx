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3"/>
    <p:sldId id="257" r:id="rId4"/>
    <p:sldId id="258" r:id="rId5"/>
  </p:sldIdLst>
  <p:sldSz cx="18288000" cy="10287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eague Spartan" panose="00000800000000000000"/>
      <p:bold r:id="rId13"/>
    </p:embeddedFont>
    <p:embeddedFont>
      <p:font typeface="Arimo" panose="020B0604020202020204"/>
      <p:regular r:id="rId14"/>
    </p:embeddedFont>
    <p:embeddedFont>
      <p:font typeface="Raleway Bold" panose="020B0803030101060003"/>
      <p:bold r:id="rId15"/>
    </p:embeddedFont>
    <p:embeddedFont>
      <p:font typeface="Calibri" panose="020F050202020403020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 autoAdjust="0"/>
    <p:restoredTop sz="94609" autoAdjust="0"/>
  </p:normalViewPr>
  <p:slideViewPr>
    <p:cSldViewPr showGuides="1">
      <p:cViewPr varScale="1">
        <p:scale>
          <a:sx n="69" d="100"/>
          <a:sy n="69" d="100"/>
        </p:scale>
        <p:origin x="920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11.fntdata"/><Relationship Id="rId18" Type="http://schemas.openxmlformats.org/officeDocument/2006/relationships/font" Target="fonts/font10.fntdata"/><Relationship Id="rId17" Type="http://schemas.openxmlformats.org/officeDocument/2006/relationships/font" Target="fonts/font9.fntdata"/><Relationship Id="rId16" Type="http://schemas.openxmlformats.org/officeDocument/2006/relationships/font" Target="fonts/font8.fntdata"/><Relationship Id="rId15" Type="http://schemas.openxmlformats.org/officeDocument/2006/relationships/font" Target="fonts/font7.fntdata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Book3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Book3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1958975"/>
        <c:axId val="1479594687"/>
      </c:barChart>
      <c:catAx>
        <c:axId val="1471958975"/>
        <c:scaling>
          <c:orientation val="minMax"/>
        </c:scaling>
        <c:delete val="0"/>
        <c:axPos val="b"/>
        <c:numFmt formatCode="mmm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79594687"/>
        <c:crosses val="autoZero"/>
        <c:auto val="1"/>
        <c:lblAlgn val="ctr"/>
        <c:lblOffset val="100"/>
        <c:noMultiLvlLbl val="0"/>
      </c:catAx>
      <c:valAx>
        <c:axId val="1479594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71958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9584426946632"/>
          <c:y val="0.194838145231846"/>
          <c:w val="0.872597112860892"/>
          <c:h val="0.7209488918051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Sheet1!$H$7</c:f>
              <c:strCache>
                <c:ptCount val="1"/>
                <c:pt idx="0">
                  <c:v>Revenue in Million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Sheet1!$F$8:$F$15</c:f>
              <c:numCache>
                <c:formatCode>mmm/yy</c:formatCode>
                <c:ptCount val="8"/>
                <c:pt idx="0" c:formatCode="mmm/yy">
                  <c:v>44075</c:v>
                </c:pt>
                <c:pt idx="1" c:formatCode="mmm/yy">
                  <c:v>44105</c:v>
                </c:pt>
                <c:pt idx="2" c:formatCode="mmm/yy">
                  <c:v>44136</c:v>
                </c:pt>
                <c:pt idx="3" c:formatCode="mmm/yy">
                  <c:v>44166</c:v>
                </c:pt>
                <c:pt idx="4" c:formatCode="mmm/yy">
                  <c:v>44197</c:v>
                </c:pt>
                <c:pt idx="5" c:formatCode="mmm/yy">
                  <c:v>44228</c:v>
                </c:pt>
                <c:pt idx="6" c:formatCode="mmm/yy">
                  <c:v>44256</c:v>
                </c:pt>
                <c:pt idx="7" c:formatCode="mmm/yy">
                  <c:v>44287</c:v>
                </c:pt>
              </c:numCache>
            </c:numRef>
          </c:cat>
          <c:val>
            <c:numRef>
              <c:f>Sheet1!$H$8:$H$15</c:f>
              <c:numCache>
                <c:formatCode>_(* #,##0.00_);_(* \(#,##0.00\);_(* "-"??_);_(@_)</c:formatCode>
                <c:ptCount val="8"/>
                <c:pt idx="0">
                  <c:v>0.3820425</c:v>
                </c:pt>
                <c:pt idx="1">
                  <c:v>0.61031875</c:v>
                </c:pt>
                <c:pt idx="2">
                  <c:v>0.57852375</c:v>
                </c:pt>
                <c:pt idx="3">
                  <c:v>0.95791725</c:v>
                </c:pt>
                <c:pt idx="4">
                  <c:v>2.0564645</c:v>
                </c:pt>
                <c:pt idx="5">
                  <c:v>2.2644106</c:v>
                </c:pt>
                <c:pt idx="6">
                  <c:v>2.3532614</c:v>
                </c:pt>
                <c:pt idx="7">
                  <c:v>2.663496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1958975"/>
        <c:axId val="1479594687"/>
      </c:barChart>
      <c:dateAx>
        <c:axId val="1471958975"/>
        <c:scaling>
          <c:orientation val="minMax"/>
        </c:scaling>
        <c:delete val="0"/>
        <c:axPos val="b"/>
        <c:numFmt formatCode="mmm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79594687"/>
        <c:crosses val="autoZero"/>
        <c:auto val="1"/>
        <c:lblOffset val="100"/>
        <c:baseTimeUnit val="months"/>
      </c:dateAx>
      <c:valAx>
        <c:axId val="1479594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71958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tiff"/><Relationship Id="rId8" Type="http://schemas.openxmlformats.org/officeDocument/2006/relationships/image" Target="../media/image12.jpeg"/><Relationship Id="rId7" Type="http://schemas.openxmlformats.org/officeDocument/2006/relationships/image" Target="../media/image11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6806565" y="3162300"/>
            <a:ext cx="4648200" cy="196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8055610" y="5676900"/>
            <a:ext cx="2080895" cy="663575"/>
          </a:xfrm>
          <a:prstGeom prst="roundRect">
            <a:avLst/>
          </a:prstGeom>
          <a:solidFill>
            <a:srgbClr val="012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b="1" dirty="0"/>
              <a:t>CASE STUDY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44180" y="3172868"/>
            <a:ext cx="11968806" cy="2834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6710" lvl="1" indent="-173355" algn="l">
              <a:lnSpc>
                <a:spcPts val="3215"/>
              </a:lnSpc>
              <a:buFont typeface="Arial" panose="020B0604020202020204"/>
              <a:buChar char="•"/>
            </a:pPr>
            <a:r>
              <a:rPr lang="en-US" sz="2100" dirty="0">
                <a:solidFill>
                  <a:srgbClr val="000000"/>
                </a:solidFill>
                <a:latin typeface="Raleway"/>
              </a:rPr>
              <a:t>E-commerce portal awareness went down as existing website was not working for a long time.</a:t>
            </a:r>
            <a:endParaRPr lang="en-US" sz="2100" dirty="0">
              <a:solidFill>
                <a:srgbClr val="000000"/>
              </a:solidFill>
              <a:latin typeface="Raleway"/>
            </a:endParaRPr>
          </a:p>
          <a:p>
            <a:pPr marL="346710" lvl="1" indent="-173355" algn="l">
              <a:lnSpc>
                <a:spcPts val="3215"/>
              </a:lnSpc>
              <a:buFont typeface="Arial" panose="020B0604020202020204"/>
              <a:buChar char="•"/>
            </a:pPr>
            <a:r>
              <a:rPr lang="en-US" sz="2100" dirty="0">
                <a:solidFill>
                  <a:srgbClr val="000000"/>
                </a:solidFill>
                <a:latin typeface="Raleway"/>
              </a:rPr>
              <a:t>Regain the website awareness and to be present in the top mind of the customers.</a:t>
            </a:r>
            <a:endParaRPr lang="en-US" sz="2100" dirty="0">
              <a:solidFill>
                <a:srgbClr val="000000"/>
              </a:solidFill>
              <a:latin typeface="Raleway"/>
            </a:endParaRPr>
          </a:p>
          <a:p>
            <a:pPr marL="346710" lvl="1" indent="-173355">
              <a:lnSpc>
                <a:spcPts val="3215"/>
              </a:lnSpc>
              <a:buFont typeface="Arial" panose="020B0604020202020204"/>
              <a:buChar char="•"/>
            </a:pPr>
            <a:r>
              <a:rPr lang="en-US" sz="2100" dirty="0" err="1">
                <a:solidFill>
                  <a:srgbClr val="000000"/>
                </a:solidFill>
                <a:latin typeface="Raleway"/>
                <a:sym typeface="Roboto Light"/>
              </a:rPr>
              <a:t>Nivia</a:t>
            </a:r>
            <a:r>
              <a:rPr lang="en-US" sz="2100" dirty="0">
                <a:solidFill>
                  <a:srgbClr val="000000"/>
                </a:solidFill>
                <a:latin typeface="Raleway"/>
                <a:sym typeface="Roboto Light"/>
              </a:rPr>
              <a:t> wanted to generate maximum sale through Online platform @ Pan India Level but at the same time, they want to reduce their cost/transaction as well as making aware of their new product through online medium</a:t>
            </a:r>
            <a:endParaRPr lang="en-US" sz="2100" dirty="0">
              <a:solidFill>
                <a:srgbClr val="000000"/>
              </a:solidFill>
              <a:latin typeface="Raleway"/>
              <a:sym typeface="Roboto Light"/>
            </a:endParaRPr>
          </a:p>
          <a:p>
            <a:pPr marL="346710" lvl="1" indent="-173355" algn="l">
              <a:lnSpc>
                <a:spcPts val="3215"/>
              </a:lnSpc>
              <a:buFont typeface="Arial" panose="020B0604020202020204"/>
              <a:buChar char="•"/>
            </a:pPr>
            <a:endParaRPr lang="en-US" sz="2100" dirty="0">
              <a:solidFill>
                <a:srgbClr val="000000"/>
              </a:solidFill>
              <a:latin typeface="Raleway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456965" y="479607"/>
            <a:ext cx="5512435" cy="1525599"/>
            <a:chOff x="0" y="19049"/>
            <a:chExt cx="7349914" cy="2034133"/>
          </a:xfrm>
        </p:grpSpPr>
        <p:sp>
          <p:nvSpPr>
            <p:cNvPr id="4" name="TextBox 4"/>
            <p:cNvSpPr txBox="1"/>
            <p:nvPr/>
          </p:nvSpPr>
          <p:spPr>
            <a:xfrm>
              <a:off x="0" y="1649510"/>
              <a:ext cx="4103256" cy="4036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70"/>
                </a:lnSpc>
              </a:p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49"/>
              <a:ext cx="7349914" cy="4512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League Spartan" panose="00000800000000000000"/>
                </a:rPr>
                <a:t>ABOUT THE CAMPAIGN</a:t>
              </a:r>
              <a:endParaRPr lang="en-US" sz="2400" spc="72" dirty="0">
                <a:solidFill>
                  <a:srgbClr val="000000"/>
                </a:solidFill>
                <a:latin typeface="League Spartan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34703" y="2605674"/>
            <a:ext cx="3128677" cy="1529678"/>
            <a:chOff x="0" y="19050"/>
            <a:chExt cx="4171569" cy="2039571"/>
          </a:xfrm>
        </p:grpSpPr>
        <p:sp>
          <p:nvSpPr>
            <p:cNvPr id="7" name="TextBox 7"/>
            <p:cNvSpPr txBox="1"/>
            <p:nvPr/>
          </p:nvSpPr>
          <p:spPr>
            <a:xfrm>
              <a:off x="0" y="1651305"/>
              <a:ext cx="4132662" cy="407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0"/>
                </a:lnSpc>
              </a:p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4171569" cy="451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League Spartan" panose="00000800000000000000"/>
                </a:rPr>
                <a:t>CHALLENGES</a:t>
              </a:r>
              <a:endParaRPr lang="en-US" sz="2400" spc="72">
                <a:solidFill>
                  <a:srgbClr val="000000"/>
                </a:solidFill>
                <a:latin typeface="League Spartan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01732" y="2740369"/>
            <a:ext cx="4151047" cy="496029"/>
            <a:chOff x="0" y="0"/>
            <a:chExt cx="4251223" cy="508000"/>
          </a:xfrm>
        </p:grpSpPr>
        <p:sp>
          <p:nvSpPr>
            <p:cNvPr id="10" name="Freeform 10"/>
            <p:cNvSpPr/>
            <p:nvPr/>
          </p:nvSpPr>
          <p:spPr>
            <a:xfrm>
              <a:off x="0" y="215900"/>
              <a:ext cx="4251223" cy="76200"/>
            </a:xfrm>
            <a:custGeom>
              <a:avLst/>
              <a:gdLst/>
              <a:ahLst/>
              <a:cxnLst/>
              <a:rect l="l" t="t" r="r" b="b"/>
              <a:pathLst>
                <a:path w="4251223" h="76200">
                  <a:moveTo>
                    <a:pt x="0" y="0"/>
                  </a:moveTo>
                  <a:lnTo>
                    <a:pt x="4251223" y="0"/>
                  </a:lnTo>
                  <a:lnTo>
                    <a:pt x="42512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1732" y="666750"/>
            <a:ext cx="4151047" cy="496029"/>
            <a:chOff x="0" y="0"/>
            <a:chExt cx="4251223" cy="508000"/>
          </a:xfrm>
        </p:grpSpPr>
        <p:sp>
          <p:nvSpPr>
            <p:cNvPr id="12" name="Freeform 12"/>
            <p:cNvSpPr/>
            <p:nvPr/>
          </p:nvSpPr>
          <p:spPr>
            <a:xfrm>
              <a:off x="0" y="215900"/>
              <a:ext cx="4251223" cy="76200"/>
            </a:xfrm>
            <a:custGeom>
              <a:avLst/>
              <a:gdLst/>
              <a:ahLst/>
              <a:cxnLst/>
              <a:rect l="l" t="t" r="r" b="b"/>
              <a:pathLst>
                <a:path w="4251223" h="76200">
                  <a:moveTo>
                    <a:pt x="0" y="0"/>
                  </a:moveTo>
                  <a:lnTo>
                    <a:pt x="4251223" y="0"/>
                  </a:lnTo>
                  <a:lnTo>
                    <a:pt x="42512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572514" y="5753100"/>
            <a:ext cx="4297021" cy="40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dirty="0">
                <a:solidFill>
                  <a:srgbClr val="000000"/>
                </a:solidFill>
                <a:latin typeface="League Spartan" panose="00000800000000000000"/>
              </a:rPr>
              <a:t>OUR STRATEGY</a:t>
            </a:r>
            <a:endParaRPr lang="en-US" sz="2400" dirty="0">
              <a:solidFill>
                <a:srgbClr val="000000"/>
              </a:solidFill>
              <a:latin typeface="League Spartan" panose="000008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6456965" y="5969817"/>
            <a:ext cx="4151047" cy="496029"/>
            <a:chOff x="0" y="0"/>
            <a:chExt cx="4251223" cy="508000"/>
          </a:xfrm>
        </p:grpSpPr>
        <p:sp>
          <p:nvSpPr>
            <p:cNvPr id="15" name="Freeform 15"/>
            <p:cNvSpPr/>
            <p:nvPr/>
          </p:nvSpPr>
          <p:spPr>
            <a:xfrm>
              <a:off x="0" y="215900"/>
              <a:ext cx="4251223" cy="76200"/>
            </a:xfrm>
            <a:custGeom>
              <a:avLst/>
              <a:gdLst/>
              <a:ahLst/>
              <a:cxnLst/>
              <a:rect l="l" t="t" r="r" b="b"/>
              <a:pathLst>
                <a:path w="4251223" h="76200">
                  <a:moveTo>
                    <a:pt x="0" y="0"/>
                  </a:moveTo>
                  <a:lnTo>
                    <a:pt x="4251223" y="0"/>
                  </a:lnTo>
                  <a:lnTo>
                    <a:pt x="42512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195544" y="5955529"/>
            <a:ext cx="11816376" cy="406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710" lvl="1" indent="-173355">
              <a:lnSpc>
                <a:spcPts val="3190"/>
              </a:lnSpc>
              <a:buFont typeface="Arial" panose="020B0604020202020204"/>
              <a:buChar char="•"/>
            </a:pPr>
            <a:endParaRPr lang="en-US" sz="2100" spc="-75" dirty="0">
              <a:solidFill>
                <a:srgbClr val="000000"/>
              </a:solidFill>
              <a:latin typeface="Raleway"/>
            </a:endParaRPr>
          </a:p>
          <a:p>
            <a:pPr marL="346710" lvl="1" indent="-173355">
              <a:lnSpc>
                <a:spcPts val="3190"/>
              </a:lnSpc>
              <a:buFont typeface="Arial" panose="020B0604020202020204"/>
              <a:buChar char="•"/>
            </a:pPr>
            <a:r>
              <a:rPr lang="en-US" sz="2000" spc="-75" dirty="0">
                <a:solidFill>
                  <a:srgbClr val="000000"/>
                </a:solidFill>
                <a:latin typeface="Raleway"/>
              </a:rPr>
              <a:t>Platform Used: Facebook, Google, Affiliate, marketing Automation</a:t>
            </a:r>
            <a:endParaRPr lang="en-US" sz="2000" spc="-75" dirty="0">
              <a:solidFill>
                <a:srgbClr val="000000"/>
              </a:solidFill>
              <a:latin typeface="Raleway"/>
            </a:endParaRPr>
          </a:p>
          <a:p>
            <a:pPr marL="346710" lvl="1" indent="-173355">
              <a:lnSpc>
                <a:spcPts val="3190"/>
              </a:lnSpc>
              <a:buFont typeface="Arial" panose="020B0604020202020204"/>
              <a:buChar char="•"/>
            </a:pPr>
            <a:r>
              <a:rPr lang="en-US" sz="2000" spc="-75" dirty="0">
                <a:solidFill>
                  <a:srgbClr val="000000"/>
                </a:solidFill>
                <a:latin typeface="Raleway"/>
              </a:rPr>
              <a:t>We created 5 type of audience persona on Facebook to deliver of our range of products.. And this help us improve the ROI of 2x</a:t>
            </a:r>
            <a:endParaRPr lang="en-US" sz="2000" spc="-75" dirty="0">
              <a:solidFill>
                <a:srgbClr val="000000"/>
              </a:solidFill>
              <a:latin typeface="Raleway"/>
            </a:endParaRPr>
          </a:p>
          <a:p>
            <a:pPr marL="346710" lvl="1" indent="-173355">
              <a:lnSpc>
                <a:spcPts val="3190"/>
              </a:lnSpc>
              <a:buFont typeface="Arial" panose="020B0604020202020204"/>
              <a:buChar char="•"/>
            </a:pPr>
            <a:r>
              <a:rPr lang="en-US" sz="2000" spc="-75" dirty="0">
                <a:solidFill>
                  <a:srgbClr val="000000"/>
                </a:solidFill>
                <a:latin typeface="Raleway"/>
              </a:rPr>
              <a:t>Created separate search campaigns for Brand,  Core &amp; Product specific &amp; Competitor campaigns &amp; driving them to  specific product page which result us to achieved  high quality score and maintain top position on google search page</a:t>
            </a:r>
            <a:endParaRPr lang="en-US" sz="2000" spc="-75" dirty="0">
              <a:solidFill>
                <a:srgbClr val="000000"/>
              </a:solidFill>
              <a:latin typeface="Raleway"/>
            </a:endParaRPr>
          </a:p>
          <a:p>
            <a:pPr marL="346710" lvl="1" indent="-173355">
              <a:lnSpc>
                <a:spcPts val="3190"/>
              </a:lnSpc>
              <a:buFont typeface="Arial" panose="020B0604020202020204"/>
              <a:buChar char="•"/>
            </a:pPr>
            <a:r>
              <a:rPr lang="en-US" sz="2000" spc="-75" dirty="0">
                <a:solidFill>
                  <a:srgbClr val="000000"/>
                </a:solidFill>
                <a:latin typeface="Raleway"/>
              </a:rPr>
              <a:t>Along with Search, we also stared smart shopping campaigns to increase sale</a:t>
            </a:r>
            <a:endParaRPr lang="en-US" sz="2000" spc="-75" dirty="0">
              <a:solidFill>
                <a:srgbClr val="000000"/>
              </a:solidFill>
              <a:latin typeface="Raleway"/>
            </a:endParaRPr>
          </a:p>
          <a:p>
            <a:pPr marL="346710" lvl="1" indent="-173355">
              <a:lnSpc>
                <a:spcPts val="3190"/>
              </a:lnSpc>
              <a:buFont typeface="Arial" panose="020B0604020202020204"/>
              <a:buChar char="•"/>
            </a:pPr>
            <a:r>
              <a:rPr lang="en-US" sz="2000" spc="-75" dirty="0">
                <a:solidFill>
                  <a:srgbClr val="000000"/>
                </a:solidFill>
                <a:latin typeface="Raleway"/>
              </a:rPr>
              <a:t>Display campaigns helped to us to create audience bucket which result us to </a:t>
            </a:r>
            <a:r>
              <a:rPr lang="en-US" sz="2000" spc="-75" dirty="0" err="1">
                <a:solidFill>
                  <a:srgbClr val="000000"/>
                </a:solidFill>
                <a:latin typeface="Raleway"/>
              </a:rPr>
              <a:t>maximise</a:t>
            </a:r>
            <a:r>
              <a:rPr lang="en-US" sz="2000" spc="-75" dirty="0">
                <a:solidFill>
                  <a:srgbClr val="000000"/>
                </a:solidFill>
                <a:latin typeface="Raleway"/>
              </a:rPr>
              <a:t> sale through dynamic remarketing campaigns.</a:t>
            </a:r>
            <a:endParaRPr lang="en-US" sz="2000" spc="-75" dirty="0">
              <a:solidFill>
                <a:srgbClr val="000000"/>
              </a:solidFill>
              <a:latin typeface="Raleway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0" y="6177"/>
            <a:ext cx="6086435" cy="10280824"/>
            <a:chOff x="0" y="0"/>
            <a:chExt cx="1415472" cy="24276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15472" cy="2427644"/>
            </a:xfrm>
            <a:custGeom>
              <a:avLst/>
              <a:gdLst/>
              <a:ahLst/>
              <a:cxnLst/>
              <a:rect l="l" t="t" r="r" b="b"/>
              <a:pathLst>
                <a:path w="1415472" h="2427644">
                  <a:moveTo>
                    <a:pt x="0" y="0"/>
                  </a:moveTo>
                  <a:lnTo>
                    <a:pt x="1415472" y="0"/>
                  </a:lnTo>
                  <a:lnTo>
                    <a:pt x="1415472" y="2427644"/>
                  </a:lnTo>
                  <a:lnTo>
                    <a:pt x="0" y="2427644"/>
                  </a:lnTo>
                  <a:close/>
                </a:path>
              </a:pathLst>
            </a:custGeom>
            <a:solidFill>
              <a:srgbClr val="FDCF0F"/>
            </a:solidFill>
          </p:spPr>
        </p:sp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812414" y="524801"/>
            <a:ext cx="1195557" cy="119555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812414" y="2590118"/>
            <a:ext cx="1105582" cy="1105582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11853" y="802929"/>
            <a:ext cx="656658" cy="656658"/>
          </a:xfrm>
          <a:prstGeom prst="rect">
            <a:avLst/>
          </a:prstGeom>
        </p:spPr>
      </p:pic>
      <p:sp>
        <p:nvSpPr>
          <p:cNvPr id="58" name="TextBox 58"/>
          <p:cNvSpPr txBox="1"/>
          <p:nvPr/>
        </p:nvSpPr>
        <p:spPr>
          <a:xfrm>
            <a:off x="6401732" y="1245257"/>
            <a:ext cx="11404000" cy="73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00" spc="63" dirty="0" err="1">
                <a:solidFill>
                  <a:srgbClr val="000000"/>
                </a:solidFill>
                <a:latin typeface="Raleway"/>
              </a:rPr>
              <a:t>Nivia</a:t>
            </a:r>
            <a:r>
              <a:rPr lang="en-US" sz="2100" spc="63" dirty="0">
                <a:solidFill>
                  <a:srgbClr val="000000"/>
                </a:solidFill>
                <a:latin typeface="Raleway"/>
              </a:rPr>
              <a:t> have launched their new website to give customers enhanced shopping experience. And want to drive maximum b2c sales using the website</a:t>
            </a:r>
            <a:endParaRPr lang="en-US" sz="2100" spc="63" dirty="0">
              <a:solidFill>
                <a:srgbClr val="000000"/>
              </a:solidFill>
              <a:latin typeface="Raleway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35540" y="2833041"/>
            <a:ext cx="657686" cy="657686"/>
          </a:xfrm>
          <a:prstGeom prst="rect">
            <a:avLst/>
          </a:prstGeom>
        </p:spPr>
      </p:pic>
      <p:sp>
        <p:nvSpPr>
          <p:cNvPr id="61" name="TextBox 61"/>
          <p:cNvSpPr txBox="1"/>
          <p:nvPr/>
        </p:nvSpPr>
        <p:spPr>
          <a:xfrm>
            <a:off x="546814" y="9774324"/>
            <a:ext cx="5062827" cy="29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Arimo" panose="020B0604020202020204"/>
              </a:rPr>
              <a:t>Campaign period Jan’21 to April’21</a:t>
            </a:r>
            <a:endParaRPr lang="en-US" sz="1800" dirty="0">
              <a:solidFill>
                <a:srgbClr val="000000"/>
              </a:solidFill>
              <a:latin typeface="Arimo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3897391" y="722906"/>
            <a:ext cx="1681196" cy="769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190" dirty="0">
                <a:solidFill>
                  <a:srgbClr val="000000"/>
                </a:solidFill>
                <a:latin typeface="Raleway Bold" panose="020B0803030101060003"/>
              </a:rPr>
              <a:t>Growth in </a:t>
            </a:r>
            <a:endParaRPr lang="en-US" sz="2190" dirty="0">
              <a:solidFill>
                <a:srgbClr val="000000"/>
              </a:solidFill>
              <a:latin typeface="Raleway Bold" panose="020B0803030101060003"/>
            </a:endParaRPr>
          </a:p>
          <a:p>
            <a:pPr algn="l">
              <a:lnSpc>
                <a:spcPts val="3065"/>
              </a:lnSpc>
            </a:pPr>
            <a:r>
              <a:rPr lang="en-US" sz="2190" dirty="0">
                <a:solidFill>
                  <a:srgbClr val="000000"/>
                </a:solidFill>
                <a:latin typeface="Raleway Bold" panose="020B0803030101060003"/>
              </a:rPr>
              <a:t>Revenue</a:t>
            </a:r>
            <a:endParaRPr lang="en-US" sz="2190" dirty="0">
              <a:solidFill>
                <a:srgbClr val="000000"/>
              </a:solidFill>
              <a:latin typeface="Raleway Bold" panose="020B0803030101060003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837888" y="2710304"/>
            <a:ext cx="1740698" cy="763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dirty="0">
                <a:solidFill>
                  <a:srgbClr val="000000"/>
                </a:solidFill>
                <a:latin typeface="Raleway Bold" panose="020B0803030101060003"/>
              </a:rPr>
              <a:t>Increase in ROI Overall</a:t>
            </a:r>
            <a:endParaRPr lang="en-US" sz="2200" dirty="0">
              <a:solidFill>
                <a:srgbClr val="000000"/>
              </a:solidFill>
              <a:latin typeface="Raleway Bold" panose="020B0803030101060003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007971" y="853339"/>
            <a:ext cx="225340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League Spartan" panose="00000800000000000000"/>
              </a:rPr>
              <a:t>50%</a:t>
            </a:r>
            <a:endParaRPr lang="en-US" sz="2800" dirty="0">
              <a:solidFill>
                <a:srgbClr val="000000"/>
              </a:solidFill>
              <a:latin typeface="League Spartan" panose="00000800000000000000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917995" y="2862450"/>
            <a:ext cx="225340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League Spartan" panose="00000800000000000000"/>
              </a:rPr>
              <a:t>2.5x</a:t>
            </a:r>
            <a:endParaRPr lang="en-US" sz="2800" dirty="0">
              <a:solidFill>
                <a:srgbClr val="000000"/>
              </a:solidFill>
              <a:latin typeface="League Spartan" panose="00000800000000000000"/>
            </a:endParaRPr>
          </a:p>
        </p:txBody>
      </p:sp>
      <p:graphicFrame>
        <p:nvGraphicFramePr>
          <p:cNvPr id="68" name="Chart 67"/>
          <p:cNvGraphicFramePr/>
          <p:nvPr/>
        </p:nvGraphicFramePr>
        <p:xfrm>
          <a:off x="983396" y="695406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9" name="Chart 68"/>
          <p:cNvGraphicFramePr/>
          <p:nvPr/>
        </p:nvGraphicFramePr>
        <p:xfrm>
          <a:off x="874287" y="63627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16078200" y="151440"/>
            <a:ext cx="2134786" cy="90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62"/>
          <p:cNvSpPr txBox="1"/>
          <p:nvPr/>
        </p:nvSpPr>
        <p:spPr>
          <a:xfrm>
            <a:off x="3870619" y="4716640"/>
            <a:ext cx="2215815" cy="762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190" dirty="0">
                <a:solidFill>
                  <a:srgbClr val="000000"/>
                </a:solidFill>
                <a:latin typeface="Raleway Bold" panose="020B0803030101060003"/>
              </a:rPr>
              <a:t>Growth in </a:t>
            </a:r>
            <a:endParaRPr lang="en-US" sz="2190" dirty="0">
              <a:solidFill>
                <a:srgbClr val="000000"/>
              </a:solidFill>
              <a:latin typeface="Raleway Bold" panose="020B0803030101060003"/>
            </a:endParaRPr>
          </a:p>
          <a:p>
            <a:pPr algn="l">
              <a:lnSpc>
                <a:spcPts val="3065"/>
              </a:lnSpc>
            </a:pPr>
            <a:r>
              <a:rPr lang="en-US" sz="2190" dirty="0">
                <a:solidFill>
                  <a:srgbClr val="000000"/>
                </a:solidFill>
                <a:latin typeface="Raleway Bold" panose="020B0803030101060003"/>
              </a:rPr>
              <a:t>Brand Searches</a:t>
            </a:r>
            <a:endParaRPr lang="en-US" sz="2190" dirty="0">
              <a:solidFill>
                <a:srgbClr val="000000"/>
              </a:solidFill>
              <a:latin typeface="Raleway Bold" panose="020B0803030101060003"/>
            </a:endParaRPr>
          </a:p>
        </p:txBody>
      </p:sp>
      <p:sp>
        <p:nvSpPr>
          <p:cNvPr id="73" name="TextBox 64"/>
          <p:cNvSpPr txBox="1"/>
          <p:nvPr/>
        </p:nvSpPr>
        <p:spPr>
          <a:xfrm>
            <a:off x="1981200" y="4847073"/>
            <a:ext cx="225340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League Spartan" panose="00000800000000000000"/>
              </a:rPr>
              <a:t>32%</a:t>
            </a:r>
            <a:endParaRPr lang="en-US" sz="2800" dirty="0">
              <a:solidFill>
                <a:srgbClr val="000000"/>
              </a:solidFill>
              <a:latin typeface="League Spartan" panose="00000800000000000000"/>
            </a:endParaRPr>
          </a:p>
        </p:txBody>
      </p:sp>
      <p:pic>
        <p:nvPicPr>
          <p:cNvPr id="74" name="Picture 52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838200" y="4495118"/>
            <a:ext cx="1105582" cy="1105582"/>
          </a:xfrm>
          <a:prstGeom prst="rect">
            <a:avLst/>
          </a:prstGeom>
        </p:spPr>
      </p:pic>
      <p:pic>
        <p:nvPicPr>
          <p:cNvPr id="75" name="Picture 2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61326" y="4738041"/>
            <a:ext cx="657686" cy="657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 rot="5400000">
            <a:off x="8362949" y="-8362949"/>
            <a:ext cx="1562099" cy="18288000"/>
            <a:chOff x="0" y="0"/>
            <a:chExt cx="1415472" cy="24276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15472" cy="2427644"/>
            </a:xfrm>
            <a:custGeom>
              <a:avLst/>
              <a:gdLst/>
              <a:ahLst/>
              <a:cxnLst/>
              <a:rect l="l" t="t" r="r" b="b"/>
              <a:pathLst>
                <a:path w="1415472" h="2427644">
                  <a:moveTo>
                    <a:pt x="0" y="0"/>
                  </a:moveTo>
                  <a:lnTo>
                    <a:pt x="1415472" y="0"/>
                  </a:lnTo>
                  <a:lnTo>
                    <a:pt x="1415472" y="2427644"/>
                  </a:lnTo>
                  <a:lnTo>
                    <a:pt x="0" y="2427644"/>
                  </a:lnTo>
                  <a:close/>
                </a:path>
              </a:pathLst>
            </a:custGeom>
            <a:solidFill>
              <a:srgbClr val="FDCF0F"/>
            </a:solidFill>
          </p:spPr>
        </p:sp>
      </p:grp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6078200" y="280932"/>
            <a:ext cx="2134786" cy="90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609600" y="280932"/>
            <a:ext cx="108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Creatives</a:t>
            </a:r>
            <a:endParaRPr lang="en-US" sz="4800" dirty="0"/>
          </a:p>
        </p:txBody>
      </p:sp>
      <p:pic>
        <p:nvPicPr>
          <p:cNvPr id="2050" name="Picture 2" descr="Image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40080" y="1562101"/>
            <a:ext cx="5135880" cy="513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icture containing text, sport, sign&#10;&#10;Description automatically generated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2740217" y="1562101"/>
            <a:ext cx="5135880" cy="5135880"/>
          </a:xfrm>
          <a:prstGeom prst="rect">
            <a:avLst/>
          </a:prstGeom>
        </p:spPr>
      </p:pic>
      <p:pic>
        <p:nvPicPr>
          <p:cNvPr id="23" name="Picture 22" descr="Text&#10;&#10;Description automatically generated with medium confidence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306916" y="6997699"/>
            <a:ext cx="3289300" cy="3289300"/>
          </a:xfrm>
          <a:prstGeom prst="rect">
            <a:avLst/>
          </a:prstGeom>
        </p:spPr>
      </p:pic>
      <p:pic>
        <p:nvPicPr>
          <p:cNvPr id="26" name="Picture 25" descr="A picture containing text, wooden&#10;&#10;Description automatically generated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3903133" y="6997699"/>
            <a:ext cx="3289300" cy="3289300"/>
          </a:xfrm>
          <a:prstGeom prst="rect">
            <a:avLst/>
          </a:prstGeom>
        </p:spPr>
      </p:pic>
      <p:pic>
        <p:nvPicPr>
          <p:cNvPr id="28" name="Picture 27" descr="A picture containing graphical user interface&#10;&#10;Description automatically generated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7499350" y="6997699"/>
            <a:ext cx="3289300" cy="3289300"/>
          </a:xfrm>
          <a:prstGeom prst="rect">
            <a:avLst/>
          </a:prstGeom>
        </p:spPr>
      </p:pic>
      <p:pic>
        <p:nvPicPr>
          <p:cNvPr id="30" name="Picture 29" descr="A picture containing text, black&#10;&#10;Description automatically generated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11095567" y="6997699"/>
            <a:ext cx="3289300" cy="3289300"/>
          </a:xfrm>
          <a:prstGeom prst="rect">
            <a:avLst/>
          </a:prstGeom>
        </p:spPr>
      </p:pic>
      <p:pic>
        <p:nvPicPr>
          <p:cNvPr id="32" name="Picture 31" descr="Text&#10;&#10;Description automatically generated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14691784" y="6997699"/>
            <a:ext cx="3289300" cy="32893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6576060" y="1562101"/>
            <a:ext cx="5135880" cy="5135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WPS Presentation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SimSun</vt:lpstr>
      <vt:lpstr>Wingdings</vt:lpstr>
      <vt:lpstr>Arial</vt:lpstr>
      <vt:lpstr>Raleway</vt:lpstr>
      <vt:lpstr>Roboto Light</vt:lpstr>
      <vt:lpstr>Segoe Print</vt:lpstr>
      <vt:lpstr>League Spartan Bold</vt:lpstr>
      <vt:lpstr>League Spartan</vt:lpstr>
      <vt:lpstr>Arimo</vt:lpstr>
      <vt:lpstr>Raleway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Edelweiss Tokio Case study</dc:title>
  <dc:creator/>
  <cp:lastModifiedBy>Admin</cp:lastModifiedBy>
  <cp:revision>32</cp:revision>
  <dcterms:created xsi:type="dcterms:W3CDTF">2006-08-16T00:00:00Z</dcterms:created>
  <dcterms:modified xsi:type="dcterms:W3CDTF">2024-03-01T11:50:57Z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5EBAE1E4E524498CBB3EB7AF81E35AC2_12</vt:lpwstr>
  </property>
  <property fmtid="{D5CDD505-2E9C-101B-9397-08002B2CF9AE}" pid="3" name="KSOProductBuildVer">
    <vt:lpwstr>1033-12.2.0.13489</vt:lpwstr>
  </property>
</Properties>
</file>