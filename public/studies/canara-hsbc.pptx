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4A"/>
    <a:srgbClr val="FDCF0F"/>
    <a:srgbClr val="012150"/>
    <a:srgbClr val="001D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" name="Content Placeholder 10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2080" y="2092325"/>
            <a:ext cx="4307205" cy="14268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ounded Rectangle 4"/>
          <p:cNvSpPr/>
          <p:nvPr/>
        </p:nvSpPr>
        <p:spPr>
          <a:xfrm>
            <a:off x="5161316" y="3747573"/>
            <a:ext cx="1869762" cy="528034"/>
          </a:xfrm>
          <a:prstGeom prst="roundRect">
            <a:avLst/>
          </a:prstGeom>
          <a:solidFill>
            <a:srgbClr val="012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CASE STUDY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635"/>
            <a:ext cx="3464560" cy="68846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Subtitle 2"/>
          <p:cNvSpPr txBox="1"/>
          <p:nvPr/>
        </p:nvSpPr>
        <p:spPr>
          <a:xfrm>
            <a:off x="3825017" y="4561012"/>
            <a:ext cx="8366977" cy="2030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Increase Domain Authority</a:t>
            </a:r>
            <a:r>
              <a:rPr lang="en-US" altLang="en-IN" sz="1400" dirty="0"/>
              <a:t> : </a:t>
            </a:r>
            <a:r>
              <a:rPr lang="en-IN" sz="1400" dirty="0"/>
              <a:t>In comparison with the competitors website our domain authority and Alexa rank was too low. We identified high authority pages and links those to canarahsbclife website and Improved </a:t>
            </a:r>
            <a:r>
              <a:rPr lang="en-IN" sz="1400" b="1" dirty="0"/>
              <a:t>DA by </a:t>
            </a:r>
            <a:r>
              <a:rPr lang="en-US" altLang="en-IN" sz="1400" b="1" dirty="0"/>
              <a:t>5 points</a:t>
            </a:r>
            <a:r>
              <a:rPr lang="en-IN" sz="1400" b="1" dirty="0"/>
              <a:t> and Alexa rank by 12000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No. of First Page Ranking Keywords </a:t>
            </a:r>
            <a:r>
              <a:rPr lang="en-US" altLang="en-IN" sz="1400" dirty="0"/>
              <a:t>: </a:t>
            </a:r>
            <a:r>
              <a:rPr lang="en-IN" sz="1400" dirty="0"/>
              <a:t>We targeted </a:t>
            </a:r>
            <a:r>
              <a:rPr lang="en-IN" sz="1400" b="1" dirty="0"/>
              <a:t>high search volume </a:t>
            </a:r>
            <a:r>
              <a:rPr lang="en-US" altLang="en-IN" sz="1400" b="1" dirty="0"/>
              <a:t>insurance</a:t>
            </a:r>
            <a:r>
              <a:rPr lang="en-IN" sz="1400" b="1" dirty="0"/>
              <a:t> </a:t>
            </a:r>
            <a:r>
              <a:rPr lang="en-IN" sz="1400" dirty="0"/>
              <a:t> keywords that generates more website traffic. We Achieved first page ranking for </a:t>
            </a:r>
            <a:r>
              <a:rPr lang="en-US" sz="1400" b="1" dirty="0"/>
              <a:t>4</a:t>
            </a:r>
            <a:r>
              <a:rPr lang="en-US" altLang="en-IN" sz="1400" b="1" dirty="0"/>
              <a:t>84</a:t>
            </a:r>
            <a:r>
              <a:rPr lang="en-IN" sz="1400" dirty="0"/>
              <a:t> keywords.</a:t>
            </a:r>
            <a:endParaRPr lang="en-IN" sz="1400" b="1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We modified web pages for different devices to increase the conversion rate </a:t>
            </a:r>
            <a:r>
              <a:rPr lang="en-IN" sz="1400" dirty="0" err="1"/>
              <a:t>E.g</a:t>
            </a:r>
            <a:r>
              <a:rPr lang="en-IN" sz="1400" dirty="0"/>
              <a:t> </a:t>
            </a:r>
            <a:r>
              <a:rPr lang="en-IN" sz="1400" b="1" dirty="0"/>
              <a:t>AMP pages</a:t>
            </a:r>
            <a:r>
              <a:rPr lang="en-IN" sz="1400" dirty="0"/>
              <a:t> for mobile. This also helped us to reduce our Bounce rate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IN" sz="1400" dirty="0"/>
          </a:p>
        </p:txBody>
      </p:sp>
      <p:sp>
        <p:nvSpPr>
          <p:cNvPr id="8" name="Title 1"/>
          <p:cNvSpPr txBox="1"/>
          <p:nvPr/>
        </p:nvSpPr>
        <p:spPr>
          <a:xfrm>
            <a:off x="3825019" y="3849872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Strategy on Google</a:t>
            </a:r>
            <a:endParaRPr lang="en-IN" sz="2400" b="1" dirty="0"/>
          </a:p>
        </p:txBody>
      </p:sp>
      <p:cxnSp>
        <p:nvCxnSpPr>
          <p:cNvPr id="9" name="Straight Connector 8"/>
          <p:cNvCxnSpPr>
            <a:endCxn id="8" idx="2"/>
          </p:cNvCxnSpPr>
          <p:nvPr/>
        </p:nvCxnSpPr>
        <p:spPr>
          <a:xfrm>
            <a:off x="3825018" y="4436331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193887"/>
            <a:ext cx="34644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Campaign Period</a:t>
            </a:r>
            <a:r>
              <a:rPr lang="en-IN" sz="1600" i="1" dirty="0"/>
              <a:t> (Jan’</a:t>
            </a:r>
            <a:r>
              <a:rPr lang="en-US" altLang="en-IN" sz="1600" i="1" dirty="0"/>
              <a:t>22</a:t>
            </a:r>
            <a:r>
              <a:rPr lang="en-IN" sz="1600" i="1" dirty="0"/>
              <a:t> – Present)</a:t>
            </a:r>
            <a:endParaRPr lang="en-IN" sz="1600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53" y="3599613"/>
            <a:ext cx="629723" cy="59973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74" y="2612639"/>
            <a:ext cx="652213" cy="6072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1" y="1685083"/>
            <a:ext cx="622226" cy="644716"/>
          </a:xfrm>
          <a:prstGeom prst="rect">
            <a:avLst/>
          </a:prstGeom>
        </p:spPr>
      </p:pic>
      <p:sp>
        <p:nvSpPr>
          <p:cNvPr id="16" name="Subtitle 2"/>
          <p:cNvSpPr txBox="1"/>
          <p:nvPr/>
        </p:nvSpPr>
        <p:spPr>
          <a:xfrm>
            <a:off x="3825240" y="2973705"/>
            <a:ext cx="7479030" cy="10426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altLang="en-IN" sz="1400" dirty="0"/>
              <a:t>Revise existing tags and structure nevigation of the website</a:t>
            </a:r>
            <a:endParaRPr lang="en-US" alt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Highly competitive </a:t>
            </a:r>
            <a:r>
              <a:rPr lang="en-US" altLang="en-IN" sz="1400" dirty="0"/>
              <a:t>insurance </a:t>
            </a:r>
            <a:r>
              <a:rPr lang="en-IN" sz="1400" dirty="0"/>
              <a:t>companies already owned dominant market share, which leads expensive results.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altLang="en-IN" sz="1400" dirty="0"/>
              <a:t>Core</a:t>
            </a:r>
            <a:r>
              <a:rPr lang="en-IN" sz="1400" dirty="0"/>
              <a:t> term</a:t>
            </a:r>
            <a:r>
              <a:rPr lang="en-US" altLang="en-IN" sz="1400" dirty="0"/>
              <a:t> keywords</a:t>
            </a:r>
            <a:r>
              <a:rPr lang="en-IN" sz="1400" dirty="0"/>
              <a:t> is too competitive to rank on Google. </a:t>
            </a:r>
            <a:endParaRPr lang="en-IN" sz="1400" dirty="0"/>
          </a:p>
        </p:txBody>
      </p:sp>
      <p:sp>
        <p:nvSpPr>
          <p:cNvPr id="17" name="Title 1"/>
          <p:cNvSpPr txBox="1"/>
          <p:nvPr/>
        </p:nvSpPr>
        <p:spPr>
          <a:xfrm>
            <a:off x="3825019" y="2320658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Challenges</a:t>
            </a:r>
            <a:endParaRPr lang="en-IN" sz="2400" b="1" dirty="0"/>
          </a:p>
        </p:txBody>
      </p:sp>
      <p:cxnSp>
        <p:nvCxnSpPr>
          <p:cNvPr id="18" name="Straight Connector 17"/>
          <p:cNvCxnSpPr>
            <a:endCxn id="17" idx="2"/>
          </p:cNvCxnSpPr>
          <p:nvPr/>
        </p:nvCxnSpPr>
        <p:spPr>
          <a:xfrm>
            <a:off x="3825018" y="2907117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4887" y="1858699"/>
            <a:ext cx="236361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1600" b="1" dirty="0"/>
              <a:t>Overall </a:t>
            </a:r>
            <a:r>
              <a:rPr lang="en-IN" sz="1600" b="1" dirty="0"/>
              <a:t>Website Visits Increase by </a:t>
            </a:r>
            <a:r>
              <a:rPr lang="en-US" altLang="en-IN" sz="1600" b="1" dirty="0"/>
              <a:t>2</a:t>
            </a:r>
            <a:r>
              <a:rPr lang="en-IN" sz="1600" b="1" dirty="0"/>
              <a:t>5%</a:t>
            </a:r>
            <a:endParaRPr lang="en-IN" sz="16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854887" y="2757656"/>
            <a:ext cx="205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Keywords Ranking Improvement 65%</a:t>
            </a:r>
            <a:endParaRPr lang="en-IN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07329" y="3718427"/>
            <a:ext cx="241116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Increase </a:t>
            </a:r>
            <a:r>
              <a:rPr lang="en-US" altLang="en-IN" sz="1600" b="1" dirty="0"/>
              <a:t>organic traffic by 1.5x</a:t>
            </a:r>
            <a:endParaRPr lang="en-US" alt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5" y="4550083"/>
            <a:ext cx="3171825" cy="15525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2477" y="239619"/>
            <a:ext cx="4868815" cy="586459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/>
              <a:t>Client: </a:t>
            </a:r>
            <a:r>
              <a:rPr lang="en-US" altLang="en-IN" sz="2400" b="1" dirty="0">
                <a:solidFill>
                  <a:srgbClr val="00194A"/>
                </a:solidFill>
              </a:rPr>
              <a:t>Canara HSBC</a:t>
            </a:r>
            <a:endParaRPr lang="en-US" altLang="en-IN" sz="2400" b="1" dirty="0">
              <a:solidFill>
                <a:srgbClr val="00194A"/>
              </a:solidFill>
            </a:endParaRPr>
          </a:p>
        </p:txBody>
      </p:sp>
      <p:sp>
        <p:nvSpPr>
          <p:cNvPr id="27" name="Subtitle 2"/>
          <p:cNvSpPr txBox="1"/>
          <p:nvPr/>
        </p:nvSpPr>
        <p:spPr>
          <a:xfrm>
            <a:off x="3825018" y="1741017"/>
            <a:ext cx="8366977" cy="1132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Primary Objective – To </a:t>
            </a:r>
            <a:r>
              <a:rPr lang="en-US" altLang="en-IN" sz="1400" dirty="0"/>
              <a:t>Increase organic traffic and improve current website seo structure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/>
              <a:t>Secondary Objective – To increase </a:t>
            </a:r>
            <a:r>
              <a:rPr lang="en-US" altLang="en-IN" sz="1400" dirty="0"/>
              <a:t>organic </a:t>
            </a:r>
            <a:r>
              <a:rPr lang="en-US" sz="1400" dirty="0"/>
              <a:t>leads and reduce bounce rate of product pages.</a:t>
            </a:r>
            <a:endParaRPr lang="en-US" sz="1400" dirty="0"/>
          </a:p>
        </p:txBody>
      </p:sp>
      <p:sp>
        <p:nvSpPr>
          <p:cNvPr id="28" name="Title 1"/>
          <p:cNvSpPr txBox="1"/>
          <p:nvPr/>
        </p:nvSpPr>
        <p:spPr>
          <a:xfrm>
            <a:off x="3825019" y="1074792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Objectives</a:t>
            </a:r>
            <a:endParaRPr lang="en-IN" sz="2400" b="1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3825019" y="1689313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5324" y="1125859"/>
            <a:ext cx="23636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Results</a:t>
            </a:r>
            <a:endParaRPr lang="en-IN" u="sng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808381" y="294781"/>
            <a:ext cx="1683026" cy="5105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194A"/>
                </a:solidFill>
              </a:rPr>
              <a:t>Search Engine Optimization</a:t>
            </a:r>
            <a:endParaRPr lang="en-US" b="1" dirty="0">
              <a:solidFill>
                <a:srgbClr val="00194A"/>
              </a:solidFill>
            </a:endParaRPr>
          </a:p>
        </p:txBody>
      </p:sp>
      <p:pic>
        <p:nvPicPr>
          <p:cNvPr id="107" name="Picture 106"/>
          <p:cNvPicPr/>
          <p:nvPr/>
        </p:nvPicPr>
        <p:blipFill>
          <a:blip r:embed="rId5"/>
          <a:stretch>
            <a:fillRect/>
          </a:stretch>
        </p:blipFill>
        <p:spPr>
          <a:xfrm>
            <a:off x="9495790" y="239395"/>
            <a:ext cx="2381250" cy="9721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Presentation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Georgia</vt:lpstr>
      <vt:lpstr>Office Theme</vt:lpstr>
      <vt:lpstr>PowerPoint 演示文稿</vt:lpstr>
      <vt:lpstr>Client: Canara HSBC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</dc:title>
  <dc:creator>admin</dc:creator>
  <cp:lastModifiedBy>Admin</cp:lastModifiedBy>
  <cp:revision>89</cp:revision>
  <dcterms:created xsi:type="dcterms:W3CDTF">2019-08-26T14:39:00Z</dcterms:created>
  <dcterms:modified xsi:type="dcterms:W3CDTF">2024-03-01T11:43:52Z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FFB88B435DD345A1A92258BFC30A3D73</vt:lpwstr>
  </property>
  <property fmtid="{D5CDD505-2E9C-101B-9397-08002B2CF9AE}" pid="3" name="KSOProductBuildVer">
    <vt:lpwstr>1033-12.2.0.13489</vt:lpwstr>
  </property>
</Properties>
</file>