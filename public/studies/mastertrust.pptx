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4A"/>
    <a:srgbClr val="FDCF0F"/>
    <a:srgbClr val="012150"/>
    <a:srgbClr val="001D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1F7B-39CE-4991-A3D6-71BAB8F966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03AC-FE4A-4452-95A6-A7F9D43D5BF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" name="Content Placeholder 106"/>
          <p:cNvPicPr>
            <a:picLocks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365" y="2165350"/>
            <a:ext cx="3303270" cy="1349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ounded Rectangle 4"/>
          <p:cNvSpPr/>
          <p:nvPr/>
        </p:nvSpPr>
        <p:spPr>
          <a:xfrm>
            <a:off x="5161316" y="3734238"/>
            <a:ext cx="1869762" cy="528034"/>
          </a:xfrm>
          <a:prstGeom prst="roundRect">
            <a:avLst/>
          </a:prstGeom>
          <a:solidFill>
            <a:srgbClr val="012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CASE STUDY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46441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3825017" y="4602922"/>
            <a:ext cx="8366977" cy="2030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charset="0"/>
              <a:buChar char="q"/>
            </a:pPr>
            <a:r>
              <a:rPr lang="en-IN" sz="1400" dirty="0" smtClean="0"/>
              <a:t>To improve visits</a:t>
            </a:r>
            <a:r>
              <a:rPr lang="en-US" altLang="en-IN" sz="1400" dirty="0" smtClean="0"/>
              <a:t> o</a:t>
            </a:r>
            <a:r>
              <a:rPr lang="en-GB" sz="1400" dirty="0" smtClean="0"/>
              <a:t>ther competitors websites had sufficient links to rank their keywords on Google, so followed the same strategy to improve the rank on Google. </a:t>
            </a:r>
            <a:endParaRPr lang="en-GB" sz="1400" dirty="0" smtClean="0"/>
          </a:p>
          <a:p>
            <a:pPr marL="285750" indent="-285750" algn="l">
              <a:buFont typeface="Wingdings" panose="05000000000000000000" charset="0"/>
              <a:buChar char="q"/>
            </a:pPr>
            <a:r>
              <a:rPr lang="en-GB" sz="1400" dirty="0" smtClean="0"/>
              <a:t>We added sufficient blogs on website to make sure users stay on our website &amp; come back to read </a:t>
            </a:r>
            <a:endParaRPr lang="en-GB" sz="1400" dirty="0" smtClean="0"/>
          </a:p>
          <a:p>
            <a:pPr marL="285750" indent="-285750" algn="l">
              <a:buFont typeface="Wingdings" panose="05000000000000000000" charset="0"/>
              <a:buChar char="q"/>
            </a:pPr>
            <a:r>
              <a:rPr lang="en-GB" sz="1400" dirty="0" smtClean="0"/>
              <a:t>We connected our website to high </a:t>
            </a:r>
            <a:r>
              <a:rPr lang="en-GB" sz="1400" b="1" dirty="0" smtClean="0"/>
              <a:t>DA &amp; PA websites </a:t>
            </a:r>
            <a:r>
              <a:rPr lang="en-GB" sz="1400" dirty="0" smtClean="0"/>
              <a:t>so that those website pass link juice.</a:t>
            </a:r>
            <a:endParaRPr lang="en-GB" sz="1400" dirty="0" smtClean="0"/>
          </a:p>
          <a:p>
            <a:pPr marL="742950" lvl="1" indent="-285750" algn="l">
              <a:buFont typeface="Wingdings" panose="05000000000000000000" pitchFamily="2" charset="2"/>
              <a:buChar char="q"/>
            </a:pP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IN" sz="1400" dirty="0"/>
          </a:p>
        </p:txBody>
      </p:sp>
      <p:sp>
        <p:nvSpPr>
          <p:cNvPr id="8" name="Title 1"/>
          <p:cNvSpPr txBox="1"/>
          <p:nvPr/>
        </p:nvSpPr>
        <p:spPr>
          <a:xfrm>
            <a:off x="3825019" y="3891782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Strategy on Google</a:t>
            </a:r>
            <a:endParaRPr lang="en-IN" sz="2400" b="1" dirty="0"/>
          </a:p>
        </p:txBody>
      </p:sp>
      <p:cxnSp>
        <p:nvCxnSpPr>
          <p:cNvPr id="9" name="Straight Connector 8"/>
          <p:cNvCxnSpPr>
            <a:endCxn id="8" idx="2"/>
          </p:cNvCxnSpPr>
          <p:nvPr/>
        </p:nvCxnSpPr>
        <p:spPr>
          <a:xfrm>
            <a:off x="3825018" y="4478241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6193887"/>
            <a:ext cx="346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Campaign Period</a:t>
            </a:r>
            <a:r>
              <a:rPr lang="en-IN" sz="1600" b="1" i="1" dirty="0"/>
              <a:t> </a:t>
            </a:r>
            <a:r>
              <a:rPr lang="en-IN" sz="1600" b="1" i="1" dirty="0" smtClean="0"/>
              <a:t>(</a:t>
            </a:r>
            <a:r>
              <a:rPr lang="en-IN" sz="1400" b="1" i="1" dirty="0" smtClean="0"/>
              <a:t>July’</a:t>
            </a:r>
            <a:r>
              <a:rPr lang="en-US" altLang="en-IN" sz="1400" b="1" i="1" dirty="0" smtClean="0"/>
              <a:t>21</a:t>
            </a:r>
            <a:r>
              <a:rPr lang="en-IN" sz="1400" b="1" i="1" dirty="0" smtClean="0"/>
              <a:t> </a:t>
            </a:r>
            <a:r>
              <a:rPr lang="en-IN" sz="1400" b="1" i="1" dirty="0"/>
              <a:t>– </a:t>
            </a:r>
            <a:r>
              <a:rPr lang="en-IN" sz="1400" b="1" i="1" dirty="0" smtClean="0"/>
              <a:t>July’22)</a:t>
            </a:r>
            <a:endParaRPr lang="en-IN" sz="1400" b="1" i="1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70" y="2738980"/>
            <a:ext cx="652213" cy="6072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1" y="1748920"/>
            <a:ext cx="622226" cy="644716"/>
          </a:xfrm>
          <a:prstGeom prst="rect">
            <a:avLst/>
          </a:prstGeom>
        </p:spPr>
      </p:pic>
      <p:sp>
        <p:nvSpPr>
          <p:cNvPr id="16" name="Subtitle 2"/>
          <p:cNvSpPr txBox="1"/>
          <p:nvPr/>
        </p:nvSpPr>
        <p:spPr>
          <a:xfrm>
            <a:off x="3825240" y="2973705"/>
            <a:ext cx="7479030" cy="1042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dirty="0" smtClean="0"/>
              <a:t>Highly </a:t>
            </a:r>
            <a:r>
              <a:rPr lang="en-IN" sz="1400" dirty="0"/>
              <a:t>competitive </a:t>
            </a:r>
            <a:r>
              <a:rPr lang="en-US" altLang="en-IN" sz="1400" dirty="0" smtClean="0"/>
              <a:t>Stock/trading </a:t>
            </a:r>
            <a:r>
              <a:rPr lang="en-IN" sz="1400" dirty="0"/>
              <a:t>companies already owned dominant market share, which leads expensive results.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altLang="en-IN" sz="1400" dirty="0" smtClean="0"/>
              <a:t>The Core</a:t>
            </a:r>
            <a:r>
              <a:rPr lang="en-IN" sz="1400" dirty="0" smtClean="0"/>
              <a:t> </a:t>
            </a:r>
            <a:r>
              <a:rPr lang="en-IN" sz="1400" dirty="0"/>
              <a:t>term</a:t>
            </a:r>
            <a:r>
              <a:rPr lang="en-US" altLang="en-IN" sz="1400" dirty="0"/>
              <a:t> keywords</a:t>
            </a:r>
            <a:r>
              <a:rPr lang="en-IN" sz="1400" dirty="0"/>
              <a:t> is too competitive to rank on </a:t>
            </a:r>
            <a:r>
              <a:rPr lang="en-IN" sz="1400" dirty="0" smtClean="0"/>
              <a:t>Google</a:t>
            </a:r>
            <a:r>
              <a:rPr lang="en-IN" sz="1400" dirty="0"/>
              <a:t> </a:t>
            </a:r>
            <a:r>
              <a:rPr lang="en-IN" sz="1400" dirty="0" smtClean="0"/>
              <a:t>as many of the websites uses to rank on.</a:t>
            </a:r>
            <a:endParaRPr lang="en-IN" sz="1400" dirty="0" smtClean="0"/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IN" sz="1400" dirty="0"/>
          </a:p>
        </p:txBody>
      </p:sp>
      <p:sp>
        <p:nvSpPr>
          <p:cNvPr id="17" name="Title 1"/>
          <p:cNvSpPr txBox="1"/>
          <p:nvPr/>
        </p:nvSpPr>
        <p:spPr>
          <a:xfrm>
            <a:off x="3825019" y="2320658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Challenges</a:t>
            </a:r>
            <a:endParaRPr lang="en-IN" sz="2400" b="1" dirty="0"/>
          </a:p>
        </p:txBody>
      </p:sp>
      <p:cxnSp>
        <p:nvCxnSpPr>
          <p:cNvPr id="18" name="Straight Connector 17"/>
          <p:cNvCxnSpPr>
            <a:endCxn id="17" idx="2"/>
          </p:cNvCxnSpPr>
          <p:nvPr/>
        </p:nvCxnSpPr>
        <p:spPr>
          <a:xfrm>
            <a:off x="3825018" y="2907117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1107" y="1779894"/>
            <a:ext cx="2363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Website </a:t>
            </a:r>
            <a:r>
              <a:rPr lang="en-IN" sz="1600" b="1" dirty="0" smtClean="0"/>
              <a:t>organic new users Increase 35%</a:t>
            </a:r>
            <a:endParaRPr lang="en-IN" sz="16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985888" y="2750847"/>
            <a:ext cx="205404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Increase Non brand keywords traffic by 11%</a:t>
            </a:r>
            <a:endParaRPr lang="en-US" sz="1600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2477" y="239619"/>
            <a:ext cx="4868815" cy="586459"/>
          </a:xfrm>
          <a:ln w="38100"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algn="l"/>
            <a:r>
              <a:rPr lang="en-IN" sz="2400" b="1" dirty="0"/>
              <a:t>Client: </a:t>
            </a:r>
            <a:r>
              <a:rPr lang="en-US" sz="2400" b="1" dirty="0" smtClean="0">
                <a:solidFill>
                  <a:srgbClr val="00194A"/>
                </a:solidFill>
              </a:rPr>
              <a:t>Mastertrust</a:t>
            </a:r>
            <a:endParaRPr lang="en-US" altLang="en-IN" sz="2400" b="1" dirty="0">
              <a:solidFill>
                <a:srgbClr val="00194A"/>
              </a:solidFill>
            </a:endParaRPr>
          </a:p>
        </p:txBody>
      </p:sp>
      <p:sp>
        <p:nvSpPr>
          <p:cNvPr id="27" name="Subtitle 2"/>
          <p:cNvSpPr txBox="1"/>
          <p:nvPr/>
        </p:nvSpPr>
        <p:spPr>
          <a:xfrm>
            <a:off x="3825018" y="1741017"/>
            <a:ext cx="8366977" cy="1132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b="1" dirty="0"/>
              <a:t>Primary Objective </a:t>
            </a:r>
            <a:r>
              <a:rPr lang="en-IN" sz="1400" dirty="0"/>
              <a:t>– To </a:t>
            </a:r>
            <a:r>
              <a:rPr lang="en-US" altLang="en-IN" sz="1400" dirty="0"/>
              <a:t>Increase search visibility and organic traffic of the mastertrust website.</a:t>
            </a:r>
            <a:endParaRPr lang="en-IN" sz="1400" dirty="0"/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1400" b="1" dirty="0"/>
              <a:t>Secondary Objective </a:t>
            </a:r>
            <a:r>
              <a:rPr lang="en-IN" sz="1400" dirty="0"/>
              <a:t>– To increase </a:t>
            </a:r>
            <a:r>
              <a:rPr lang="en-US" altLang="en-IN" sz="1400" dirty="0"/>
              <a:t>organic </a:t>
            </a:r>
            <a:r>
              <a:rPr lang="en-US" sz="1400" dirty="0"/>
              <a:t>leads and reduce bounce rate of product pages.</a:t>
            </a:r>
            <a:endParaRPr lang="en-US" sz="1400" dirty="0"/>
          </a:p>
        </p:txBody>
      </p:sp>
      <p:sp>
        <p:nvSpPr>
          <p:cNvPr id="28" name="Title 1"/>
          <p:cNvSpPr txBox="1"/>
          <p:nvPr/>
        </p:nvSpPr>
        <p:spPr>
          <a:xfrm>
            <a:off x="3825019" y="1074792"/>
            <a:ext cx="5310389" cy="586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/>
              <a:t>Objectives</a:t>
            </a:r>
            <a:endParaRPr lang="en-IN" sz="2400" b="1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3825019" y="1689313"/>
            <a:ext cx="265519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5324" y="1125859"/>
            <a:ext cx="2363611" cy="3683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1"/>
                </a:solidFill>
              </a:rPr>
              <a:t>Results</a:t>
            </a:r>
            <a:endParaRPr lang="en-IN" b="1" u="sng" dirty="0">
              <a:solidFill>
                <a:schemeClr val="tx1"/>
              </a:solidFill>
            </a:endParaRPr>
          </a:p>
        </p:txBody>
      </p:sp>
      <p:pic>
        <p:nvPicPr>
          <p:cNvPr id="107" name="Picture 10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790" y="302612"/>
            <a:ext cx="2381250" cy="845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Rectangle: Rounded Corners 5"/>
          <p:cNvSpPr/>
          <p:nvPr/>
        </p:nvSpPr>
        <p:spPr>
          <a:xfrm>
            <a:off x="498818" y="335810"/>
            <a:ext cx="2410117" cy="582987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194A"/>
                </a:solidFill>
              </a:rPr>
              <a:t>Search Engine Optimization</a:t>
            </a:r>
            <a:endParaRPr lang="en-US" b="1" dirty="0">
              <a:solidFill>
                <a:srgbClr val="00194A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75" y="3866515"/>
            <a:ext cx="1924050" cy="196278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WPS Presentation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Wingdings</vt:lpstr>
      <vt:lpstr>Office Theme</vt:lpstr>
      <vt:lpstr>PowerPoint 演示文稿</vt:lpstr>
      <vt:lpstr>Client: Mastertrust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</dc:title>
  <dc:creator>admin</dc:creator>
  <cp:lastModifiedBy>Admin</cp:lastModifiedBy>
  <cp:revision>99</cp:revision>
  <dcterms:created xsi:type="dcterms:W3CDTF">2019-08-26T14:39:00Z</dcterms:created>
  <dcterms:modified xsi:type="dcterms:W3CDTF">2024-03-01T11:42:41Z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4D3857020D1242038F83C9E6E4DDD1BF</vt:lpwstr>
  </property>
  <property fmtid="{D5CDD505-2E9C-101B-9397-08002B2CF9AE}" pid="3" name="KSOProductBuildVer">
    <vt:lpwstr>1033-12.2.0.13489</vt:lpwstr>
  </property>
</Properties>
</file>